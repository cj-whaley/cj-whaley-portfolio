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2"/>
  </p:normalViewPr>
  <p:slideViewPr>
    <p:cSldViewPr snapToGrid="0">
      <p:cViewPr>
        <p:scale>
          <a:sx n="82" d="100"/>
          <a:sy n="82" d="100"/>
        </p:scale>
        <p:origin x="1504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BC92A-9125-B65E-0105-3D7FEC82ED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F17AE6-892F-8A94-AE48-2A0912798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5687B-0DF8-FC37-DE16-27B47DE56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1BEDA-A909-1B42-A8F2-9D4495CCF59B}" type="datetimeFigureOut">
              <a:rPr lang="en-US" smtClean="0"/>
              <a:t>5/4/25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D4C9F-1532-D246-6E4B-891D36F87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5BF7F-BF61-70CB-2ED3-F14B133E9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6B49-E11A-C144-B319-ED6FA9475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057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3A0AA-5035-B901-8442-EE467FC27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B6854-2470-C9F6-F5DC-2458A933C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0F3B9-5630-0EE0-EA24-C3AE1D4A1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1BEDA-A909-1B42-A8F2-9D4495CCF59B}" type="datetimeFigureOut">
              <a:rPr lang="en-US" smtClean="0"/>
              <a:t>5/4/25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E8B10-6529-6EEB-A9DB-1A94AF980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9271B-E4D6-0F4C-7D23-468ABFE82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6B49-E11A-C144-B319-ED6FA9475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080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B4A7A-CC50-3692-2E57-68AEF7E13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FD99C-F18C-26C2-9E39-65D23993A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EEDA0-DE45-868D-4681-2D3BE4E2E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1BEDA-A909-1B42-A8F2-9D4495CCF59B}" type="datetimeFigureOut">
              <a:rPr lang="en-US" smtClean="0"/>
              <a:t>5/4/25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737AB-0C44-EDBC-AB35-E3F6380EE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94A43-F8D4-6C05-BCEE-B3422FF43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6B49-E11A-C144-B319-ED6FA9475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124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8226B-0B35-E225-710C-EE0F17D7A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2C146-9D70-21AE-231A-4F8CF847B4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3774D-C4C7-9D83-0340-7987FA678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6EB0B-376E-45AE-21E4-504955B47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1BEDA-A909-1B42-A8F2-9D4495CCF59B}" type="datetimeFigureOut">
              <a:rPr lang="en-US" smtClean="0"/>
              <a:t>5/4/25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D2C6B9-BF9C-6D2E-9C7B-E2F785102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747D9-91E4-2B3F-66C5-62E54B731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6B49-E11A-C144-B319-ED6FA9475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64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124B4-342F-775B-918A-6FCEEE675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38BC38-C19A-EE29-2600-814CF68D4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280B1B-B01F-4637-A12B-1C0F1B7F7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90D2DB-A610-D965-D073-AD4A54183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92C6A5-ACFB-893A-F091-7E05EFFD62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11DAC6-6196-7360-BC4D-5405D1514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1BEDA-A909-1B42-A8F2-9D4495CCF59B}" type="datetimeFigureOut">
              <a:rPr lang="en-US" smtClean="0"/>
              <a:t>5/4/25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569392-EF55-7383-B460-81BF5CE89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3C5514-A577-E370-B62C-EAFF1F8E3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6B49-E11A-C144-B319-ED6FA9475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382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1BDDF-30E9-7104-06C1-5AF72A96D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C19D9-6BA1-756E-5A50-13991D0B8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1BEDA-A909-1B42-A8F2-9D4495CCF59B}" type="datetimeFigureOut">
              <a:rPr lang="en-US" smtClean="0"/>
              <a:t>5/4/25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DE21C6-09A4-6B56-F17E-E70C2C765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C597BD-CDCA-4DE9-889E-2F291E1A3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6B49-E11A-C144-B319-ED6FA9475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341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BF241-7907-C683-C838-44C9FE168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1BEDA-A909-1B42-A8F2-9D4495CCF59B}" type="datetimeFigureOut">
              <a:rPr lang="en-US" smtClean="0"/>
              <a:t>5/4/25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E06917-E28D-46DC-B6C8-A70ECB186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D9A89-9CBD-3E38-21DB-124A16306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6B49-E11A-C144-B319-ED6FA9475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181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FF5E3-2834-2E5A-106E-AA9A0678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B7A2B-3488-7A4D-AF70-3A678DC6D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B61DB9-A8CA-F148-3373-6EE5CB3F2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02B5C-AA31-FCFC-D67C-6AD12B6A8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1BEDA-A909-1B42-A8F2-9D4495CCF59B}" type="datetimeFigureOut">
              <a:rPr lang="en-US" smtClean="0"/>
              <a:t>5/4/25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DAE80-3FD4-6AD1-8F4E-DD5D99CE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5ED32-3332-BC5F-E5DE-7BCAE687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6B49-E11A-C144-B319-ED6FA9475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379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F410B-9E89-3A3E-5E34-CAE03682A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E2EFB8-8A3C-E1D0-33A9-616A4AE62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7D92FE-1DD6-B6CA-708B-D5FC5E1358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9A1B5-44AD-BE39-B192-8A6BF009E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1BEDA-A909-1B42-A8F2-9D4495CCF59B}" type="datetimeFigureOut">
              <a:rPr lang="en-US" smtClean="0"/>
              <a:t>5/4/25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35D137-FBB7-A964-DAEA-1E4E6094D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C05655-34EF-CEED-D4CA-272C4D162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6B49-E11A-C144-B319-ED6FA9475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764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7482F-3DCE-58A9-ACA3-3036A8077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26096-EA7E-065A-7DB5-88C2A8929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99177-7546-9221-4B52-1457F00A4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1BEDA-A909-1B42-A8F2-9D4495CCF59B}" type="datetimeFigureOut">
              <a:rPr lang="en-US" smtClean="0"/>
              <a:t>5/4/25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87CDC-C012-DABA-A610-70E48C469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AC83E-3112-1B9B-E816-E4677816B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6B49-E11A-C144-B319-ED6FA9475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68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C0B500-EA85-4E62-13AF-96433132F3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A7D3AA-B88C-2F9E-A03D-EEEB2D8B8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3133D-FF26-1828-BF0D-6569029E5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1BEDA-A909-1B42-A8F2-9D4495CCF59B}" type="datetimeFigureOut">
              <a:rPr lang="en-US" smtClean="0"/>
              <a:t>5/4/25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4B579-1F95-13D1-A999-F7E46295E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455C5-588B-6F10-CB2D-C47894501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26B49-E11A-C144-B319-ED6FA9475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40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F099A8-5100-9083-2C57-A7E798629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014A9-EC74-E6FC-EB7F-D357C5542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F4AE9-200A-4B96-1457-688704C32E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51BEDA-A909-1B42-A8F2-9D4495CCF59B}" type="datetimeFigureOut">
              <a:rPr lang="en-US" smtClean="0"/>
              <a:t>5/4/25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5E5D9-8571-68D8-7042-2218A33216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67AB0-88D1-866B-9980-996208E850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826B49-E11A-C144-B319-ED6FA9475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468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amford.edu/sports-analytics/fans/2018/The-Tommy-John-Surgery-Explosion-in-the-MLB#:~:text=Growing%20in%20Number,%E2%80%9D%20(Stark%2C%202014).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C536-ED41-8096-1B43-236CB152C2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Effect of Fastball Velocity on Pitcher AAV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0D6A71-1E46-D553-C7BF-6E968A2CA1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CJ Whaley</a:t>
            </a:r>
          </a:p>
        </p:txBody>
      </p:sp>
    </p:spTree>
    <p:extLst>
      <p:ext uri="{BB962C8B-B14F-4D97-AF65-F5344CB8AC3E}">
        <p14:creationId xmlns:p14="http://schemas.microsoft.com/office/powerpoint/2010/main" val="648993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F69CF-3CEB-BC22-EED9-D0365BC6F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A30E4-BC23-8841-F7A5-DBD6E8CFD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Research Question: How important is fastball velocity in determining AAV for pitchers?</a:t>
            </a:r>
          </a:p>
          <a:p>
            <a:pPr lvl="1"/>
            <a:r>
              <a:rPr lang="en-US" dirty="0"/>
              <a:t>Further Research: Does the impact of fastball velocity differ between left and right-handed pitchers? Starting pitchers and Relief pitchers?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Why do we care?</a:t>
            </a:r>
          </a:p>
          <a:p>
            <a:pPr lvl="1"/>
            <a:r>
              <a:rPr lang="en-US" dirty="0"/>
              <a:t>Velocity has increased dramatically over last 25 years</a:t>
            </a:r>
          </a:p>
          <a:p>
            <a:pPr lvl="2"/>
            <a:r>
              <a:rPr lang="en-US" dirty="0"/>
              <a:t>2008: 91.9 mph	2023: 94.2 mph</a:t>
            </a:r>
          </a:p>
          <a:p>
            <a:pPr lvl="1"/>
            <a:r>
              <a:rPr lang="en-US" dirty="0"/>
              <a:t>Throwing injuries have increased alongside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161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1001D-41DE-34CB-4F5C-2A433B45A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68DAC-AD6A-4E64-7A4A-94CC60830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Tommy John Surgeries in MLB Chart">
            <a:extLst>
              <a:ext uri="{FF2B5EF4-FFF2-40B4-BE49-F238E27FC236}">
                <a16:creationId xmlns:a16="http://schemas.microsoft.com/office/drawing/2014/main" id="{073FCEDF-294A-1300-55FC-E01DF2999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137211"/>
            <a:ext cx="11315700" cy="631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826B0E-7EF5-EC1A-AA73-24FE4F6F20D6}"/>
              </a:ext>
            </a:extLst>
          </p:cNvPr>
          <p:cNvSpPr txBox="1"/>
          <p:nvPr/>
        </p:nvSpPr>
        <p:spPr>
          <a:xfrm>
            <a:off x="438150" y="6453243"/>
            <a:ext cx="113157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hlinkClick r:id="rId3"/>
              </a:rPr>
              <a:t>https://</a:t>
            </a:r>
            <a:r>
              <a:rPr lang="en-US" sz="1100" dirty="0" err="1">
                <a:hlinkClick r:id="rId3"/>
              </a:rPr>
              <a:t>www.samford.edu</a:t>
            </a:r>
            <a:r>
              <a:rPr lang="en-US" sz="1100" dirty="0">
                <a:hlinkClick r:id="rId3"/>
              </a:rPr>
              <a:t>/sports-analytics/fans/2018/The-Tommy-John-Surgery-Explosion-in-the-MLB#:~:text=Growing%20in%20Number,%E2%80%9D%20(Stark%2C%202014).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14052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B14AE-9CB1-E744-B5D4-C69F9B22D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E907A-A67B-5590-8184-D31057882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Source: MLB Free Agent Data, 2022-2024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Estimating Sample:</a:t>
            </a:r>
          </a:p>
          <a:p>
            <a:pPr lvl="1"/>
            <a:r>
              <a:rPr lang="en-US" dirty="0"/>
              <a:t>Removed all position players</a:t>
            </a:r>
          </a:p>
          <a:p>
            <a:pPr lvl="2"/>
            <a:r>
              <a:rPr lang="en-US" dirty="0"/>
              <a:t>Including two-way players, like Shohei Ohtani</a:t>
            </a:r>
          </a:p>
          <a:p>
            <a:pPr lvl="1"/>
            <a:r>
              <a:rPr lang="en-US" dirty="0"/>
              <a:t>Removed any pitchers with missing velocity data</a:t>
            </a:r>
          </a:p>
          <a:p>
            <a:pPr lvl="1"/>
            <a:r>
              <a:rPr lang="en-US" dirty="0"/>
              <a:t>Removed any pitchers who failed to sign a deal</a:t>
            </a:r>
          </a:p>
          <a:p>
            <a:pPr lvl="1"/>
            <a:r>
              <a:rPr lang="en-US" dirty="0"/>
              <a:t>171 observations remain after trimming  </a:t>
            </a:r>
          </a:p>
        </p:txBody>
      </p:sp>
    </p:spTree>
    <p:extLst>
      <p:ext uri="{BB962C8B-B14F-4D97-AF65-F5344CB8AC3E}">
        <p14:creationId xmlns:p14="http://schemas.microsoft.com/office/powerpoint/2010/main" val="2219594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77427-9286-9638-92DF-0886AC8CD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090AC-A8B4-C03E-A487-F0150DB6B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log(AAV) = </a:t>
            </a: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Symbol" pitchFamily="2" charset="2"/>
              </a:rPr>
              <a:t></a:t>
            </a:r>
            <a:r>
              <a:rPr lang="en-US" sz="3200" kern="100" baseline="-25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0</a:t>
            </a: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+ </a:t>
            </a: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Symbol" pitchFamily="2" charset="2"/>
              </a:rPr>
              <a:t></a:t>
            </a:r>
            <a:r>
              <a:rPr lang="en-US" sz="3200" kern="100" baseline="-25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</a:t>
            </a: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FB_Velo_avg*lefty*SP + </a:t>
            </a: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Symbol" pitchFamily="2" charset="2"/>
              </a:rPr>
              <a:t></a:t>
            </a:r>
            <a:r>
              <a:rPr lang="en-US" sz="3200" kern="100" baseline="-25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Age + </a:t>
            </a: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Symbol" pitchFamily="2" charset="2"/>
              </a:rPr>
              <a:t></a:t>
            </a:r>
            <a:r>
              <a:rPr lang="en-US" sz="3200" kern="100" baseline="-25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</a:t>
            </a: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careerWAR + </a:t>
            </a: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Symbol" pitchFamily="2" charset="2"/>
              </a:rPr>
              <a:t></a:t>
            </a:r>
            <a:r>
              <a:rPr lang="en-US" sz="3200" kern="100" baseline="-25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</a:t>
            </a: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FIP + </a:t>
            </a: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Symbol" pitchFamily="2" charset="2"/>
              </a:rPr>
              <a:t></a:t>
            </a:r>
            <a:r>
              <a:rPr lang="en-US" sz="3200" kern="100" baseline="-25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</a:t>
            </a: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large_market + </a:t>
            </a: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Symbol" pitchFamily="2" charset="2"/>
              </a:rPr>
              <a:t></a:t>
            </a:r>
            <a:endParaRPr lang="en-US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2000" dirty="0"/>
              <a:t>log(AAV) is the natural log of a player’s Average Annual Value of their contract</a:t>
            </a:r>
          </a:p>
          <a:p>
            <a:r>
              <a:rPr lang="en-US" sz="2000" dirty="0"/>
              <a:t>FB_Velo_avg is a player’s average fastball velocity in mph</a:t>
            </a:r>
          </a:p>
          <a:p>
            <a:r>
              <a:rPr lang="en-US" sz="2000" dirty="0"/>
              <a:t>lefty is a dummy variable where lefty=1 for players who throw left-handed</a:t>
            </a:r>
          </a:p>
          <a:p>
            <a:r>
              <a:rPr lang="en-US" sz="2000" dirty="0"/>
              <a:t>SP is a dummy variable where SP=1 for players who are Starting Pitchers</a:t>
            </a:r>
          </a:p>
          <a:p>
            <a:r>
              <a:rPr lang="en-US" sz="2000" dirty="0"/>
              <a:t>Age is the age of the player in years</a:t>
            </a:r>
          </a:p>
          <a:p>
            <a:r>
              <a:rPr lang="en-US" sz="2000" dirty="0"/>
              <a:t>careerWAR is a player’s total WAR accumulated in their career</a:t>
            </a:r>
          </a:p>
          <a:p>
            <a:r>
              <a:rPr lang="en-US" sz="2000" dirty="0"/>
              <a:t>FIP is a player’s Fielding Independent Pitching value</a:t>
            </a:r>
          </a:p>
          <a:p>
            <a:r>
              <a:rPr lang="en-US" sz="2000" dirty="0"/>
              <a:t>large market is a dummy variable where large_market=1 for players who signed with a large market team (NYY, NYM, LAA, LAD, CHC, CHW, BOS, PHI)</a:t>
            </a:r>
          </a:p>
        </p:txBody>
      </p:sp>
    </p:spTree>
    <p:extLst>
      <p:ext uri="{BB962C8B-B14F-4D97-AF65-F5344CB8AC3E}">
        <p14:creationId xmlns:p14="http://schemas.microsoft.com/office/powerpoint/2010/main" val="3609094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40D2D-D3F9-1DB7-353B-3AFAB9D8C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CC1792-4911-FD52-ABFD-53AEE5EFB1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7507460"/>
              </p:ext>
            </p:extLst>
          </p:nvPr>
        </p:nvGraphicFramePr>
        <p:xfrm>
          <a:off x="7517780" y="1027906"/>
          <a:ext cx="3836020" cy="53665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89342">
                  <a:extLst>
                    <a:ext uri="{9D8B030D-6E8A-4147-A177-3AD203B41FA5}">
                      <a16:colId xmlns:a16="http://schemas.microsoft.com/office/drawing/2014/main" val="3933980141"/>
                    </a:ext>
                  </a:extLst>
                </a:gridCol>
                <a:gridCol w="946678">
                  <a:extLst>
                    <a:ext uri="{9D8B030D-6E8A-4147-A177-3AD203B41FA5}">
                      <a16:colId xmlns:a16="http://schemas.microsoft.com/office/drawing/2014/main" val="1927879460"/>
                    </a:ext>
                  </a:extLst>
                </a:gridCol>
              </a:tblGrid>
              <a:tr h="1788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(1)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extLst>
                  <a:ext uri="{0D108BD9-81ED-4DB2-BD59-A6C34878D82A}">
                    <a16:rowId xmlns:a16="http://schemas.microsoft.com/office/drawing/2014/main" val="1844036663"/>
                  </a:ext>
                </a:extLst>
              </a:tr>
              <a:tr h="1788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VARIABLES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logAAV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extLst>
                  <a:ext uri="{0D108BD9-81ED-4DB2-BD59-A6C34878D82A}">
                    <a16:rowId xmlns:a16="http://schemas.microsoft.com/office/drawing/2014/main" val="1889532316"/>
                  </a:ext>
                </a:extLst>
              </a:tr>
              <a:tr h="1788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extLst>
                  <a:ext uri="{0D108BD9-81ED-4DB2-BD59-A6C34878D82A}">
                    <a16:rowId xmlns:a16="http://schemas.microsoft.com/office/drawing/2014/main" val="4147232545"/>
                  </a:ext>
                </a:extLst>
              </a:tr>
              <a:tr h="1788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FB_Velo_avg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0.140**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extLst>
                  <a:ext uri="{0D108BD9-81ED-4DB2-BD59-A6C34878D82A}">
                    <a16:rowId xmlns:a16="http://schemas.microsoft.com/office/drawing/2014/main" val="2819089138"/>
                  </a:ext>
                </a:extLst>
              </a:tr>
              <a:tr h="1788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(0.063)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extLst>
                  <a:ext uri="{0D108BD9-81ED-4DB2-BD59-A6C34878D82A}">
                    <a16:rowId xmlns:a16="http://schemas.microsoft.com/office/drawing/2014/main" val="3678654759"/>
                  </a:ext>
                </a:extLst>
              </a:tr>
              <a:tr h="1788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1.lefty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-4.129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extLst>
                  <a:ext uri="{0D108BD9-81ED-4DB2-BD59-A6C34878D82A}">
                    <a16:rowId xmlns:a16="http://schemas.microsoft.com/office/drawing/2014/main" val="2798195912"/>
                  </a:ext>
                </a:extLst>
              </a:tr>
              <a:tr h="1788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(9.124)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extLst>
                  <a:ext uri="{0D108BD9-81ED-4DB2-BD59-A6C34878D82A}">
                    <a16:rowId xmlns:a16="http://schemas.microsoft.com/office/drawing/2014/main" val="1211526489"/>
                  </a:ext>
                </a:extLst>
              </a:tr>
              <a:tr h="1788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1.lefty#c.FB_Velo_avg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0.044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extLst>
                  <a:ext uri="{0D108BD9-81ED-4DB2-BD59-A6C34878D82A}">
                    <a16:rowId xmlns:a16="http://schemas.microsoft.com/office/drawing/2014/main" val="3651429839"/>
                  </a:ext>
                </a:extLst>
              </a:tr>
              <a:tr h="1788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(0.097)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extLst>
                  <a:ext uri="{0D108BD9-81ED-4DB2-BD59-A6C34878D82A}">
                    <a16:rowId xmlns:a16="http://schemas.microsoft.com/office/drawing/2014/main" val="3752582749"/>
                  </a:ext>
                </a:extLst>
              </a:tr>
              <a:tr h="1788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1.SP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-1.127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extLst>
                  <a:ext uri="{0D108BD9-81ED-4DB2-BD59-A6C34878D82A}">
                    <a16:rowId xmlns:a16="http://schemas.microsoft.com/office/drawing/2014/main" val="215548539"/>
                  </a:ext>
                </a:extLst>
              </a:tr>
              <a:tr h="1788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(9.267)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extLst>
                  <a:ext uri="{0D108BD9-81ED-4DB2-BD59-A6C34878D82A}">
                    <a16:rowId xmlns:a16="http://schemas.microsoft.com/office/drawing/2014/main" val="673880017"/>
                  </a:ext>
                </a:extLst>
              </a:tr>
              <a:tr h="1788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1.SP#c.FB_Velo_avg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0.022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extLst>
                  <a:ext uri="{0D108BD9-81ED-4DB2-BD59-A6C34878D82A}">
                    <a16:rowId xmlns:a16="http://schemas.microsoft.com/office/drawing/2014/main" val="876530010"/>
                  </a:ext>
                </a:extLst>
              </a:tr>
              <a:tr h="1788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(0.098)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extLst>
                  <a:ext uri="{0D108BD9-81ED-4DB2-BD59-A6C34878D82A}">
                    <a16:rowId xmlns:a16="http://schemas.microsoft.com/office/drawing/2014/main" val="2675575606"/>
                  </a:ext>
                </a:extLst>
              </a:tr>
              <a:tr h="1788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1.lefty#1.SP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1.139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extLst>
                  <a:ext uri="{0D108BD9-81ED-4DB2-BD59-A6C34878D82A}">
                    <a16:rowId xmlns:a16="http://schemas.microsoft.com/office/drawing/2014/main" val="2677875161"/>
                  </a:ext>
                </a:extLst>
              </a:tr>
              <a:tr h="1788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(12.448)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extLst>
                  <a:ext uri="{0D108BD9-81ED-4DB2-BD59-A6C34878D82A}">
                    <a16:rowId xmlns:a16="http://schemas.microsoft.com/office/drawing/2014/main" val="1309044936"/>
                  </a:ext>
                </a:extLst>
              </a:tr>
              <a:tr h="1788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1.lefty#1.SP#c.FB_Velo_avg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-0.009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extLst>
                  <a:ext uri="{0D108BD9-81ED-4DB2-BD59-A6C34878D82A}">
                    <a16:rowId xmlns:a16="http://schemas.microsoft.com/office/drawing/2014/main" val="1875648534"/>
                  </a:ext>
                </a:extLst>
              </a:tr>
              <a:tr h="1788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(0.133)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extLst>
                  <a:ext uri="{0D108BD9-81ED-4DB2-BD59-A6C34878D82A}">
                    <a16:rowId xmlns:a16="http://schemas.microsoft.com/office/drawing/2014/main" val="3255946325"/>
                  </a:ext>
                </a:extLst>
              </a:tr>
              <a:tr h="1788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Age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-0.001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extLst>
                  <a:ext uri="{0D108BD9-81ED-4DB2-BD59-A6C34878D82A}">
                    <a16:rowId xmlns:a16="http://schemas.microsoft.com/office/drawing/2014/main" val="3577252726"/>
                  </a:ext>
                </a:extLst>
              </a:tr>
              <a:tr h="1788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(0.028)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extLst>
                  <a:ext uri="{0D108BD9-81ED-4DB2-BD59-A6C34878D82A}">
                    <a16:rowId xmlns:a16="http://schemas.microsoft.com/office/drawing/2014/main" val="2161370147"/>
                  </a:ext>
                </a:extLst>
              </a:tr>
              <a:tr h="1788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dirty="0">
                          <a:effectLst/>
                        </a:rPr>
                        <a:t>careerWAR</a:t>
                      </a:r>
                      <a:endParaRPr lang="en-US" sz="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0.020***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extLst>
                  <a:ext uri="{0D108BD9-81ED-4DB2-BD59-A6C34878D82A}">
                    <a16:rowId xmlns:a16="http://schemas.microsoft.com/office/drawing/2014/main" val="1721184378"/>
                  </a:ext>
                </a:extLst>
              </a:tr>
              <a:tr h="1788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(0.005)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extLst>
                  <a:ext uri="{0D108BD9-81ED-4DB2-BD59-A6C34878D82A}">
                    <a16:rowId xmlns:a16="http://schemas.microsoft.com/office/drawing/2014/main" val="30363439"/>
                  </a:ext>
                </a:extLst>
              </a:tr>
              <a:tr h="1788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FIP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-0.261***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extLst>
                  <a:ext uri="{0D108BD9-81ED-4DB2-BD59-A6C34878D82A}">
                    <a16:rowId xmlns:a16="http://schemas.microsoft.com/office/drawing/2014/main" val="2771137575"/>
                  </a:ext>
                </a:extLst>
              </a:tr>
              <a:tr h="1788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(0.092)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extLst>
                  <a:ext uri="{0D108BD9-81ED-4DB2-BD59-A6C34878D82A}">
                    <a16:rowId xmlns:a16="http://schemas.microsoft.com/office/drawing/2014/main" val="1984566697"/>
                  </a:ext>
                </a:extLst>
              </a:tr>
              <a:tr h="1788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large_market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0.042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extLst>
                  <a:ext uri="{0D108BD9-81ED-4DB2-BD59-A6C34878D82A}">
                    <a16:rowId xmlns:a16="http://schemas.microsoft.com/office/drawing/2014/main" val="2072136423"/>
                  </a:ext>
                </a:extLst>
              </a:tr>
              <a:tr h="1788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(0.129)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extLst>
                  <a:ext uri="{0D108BD9-81ED-4DB2-BD59-A6C34878D82A}">
                    <a16:rowId xmlns:a16="http://schemas.microsoft.com/office/drawing/2014/main" val="1303439056"/>
                  </a:ext>
                </a:extLst>
              </a:tr>
              <a:tr h="1788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Constant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2.565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extLst>
                  <a:ext uri="{0D108BD9-81ED-4DB2-BD59-A6C34878D82A}">
                    <a16:rowId xmlns:a16="http://schemas.microsoft.com/office/drawing/2014/main" val="4064814060"/>
                  </a:ext>
                </a:extLst>
              </a:tr>
              <a:tr h="1788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(6.390)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extLst>
                  <a:ext uri="{0D108BD9-81ED-4DB2-BD59-A6C34878D82A}">
                    <a16:rowId xmlns:a16="http://schemas.microsoft.com/office/drawing/2014/main" val="1222023000"/>
                  </a:ext>
                </a:extLst>
              </a:tr>
              <a:tr h="1788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extLst>
                  <a:ext uri="{0D108BD9-81ED-4DB2-BD59-A6C34878D82A}">
                    <a16:rowId xmlns:a16="http://schemas.microsoft.com/office/drawing/2014/main" val="1031413482"/>
                  </a:ext>
                </a:extLst>
              </a:tr>
              <a:tr h="1788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Observations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171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extLst>
                  <a:ext uri="{0D108BD9-81ED-4DB2-BD59-A6C34878D82A}">
                    <a16:rowId xmlns:a16="http://schemas.microsoft.com/office/drawing/2014/main" val="2495205928"/>
                  </a:ext>
                </a:extLst>
              </a:tr>
              <a:tr h="1788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dirty="0">
                          <a:effectLst/>
                        </a:rPr>
                        <a:t>R-squared</a:t>
                      </a:r>
                      <a:endParaRPr lang="en-US" sz="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dirty="0">
                          <a:effectLst/>
                        </a:rPr>
                        <a:t>0.487</a:t>
                      </a:r>
                      <a:endParaRPr lang="en-US" sz="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800" marR="34800" marT="0" marB="0"/>
                </a:tc>
                <a:extLst>
                  <a:ext uri="{0D108BD9-81ED-4DB2-BD59-A6C34878D82A}">
                    <a16:rowId xmlns:a16="http://schemas.microsoft.com/office/drawing/2014/main" val="122473312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C69EEF1-04C3-E283-E0E7-62D0E4E36B2E}"/>
              </a:ext>
            </a:extLst>
          </p:cNvPr>
          <p:cNvSpPr txBox="1"/>
          <p:nvPr/>
        </p:nvSpPr>
        <p:spPr>
          <a:xfrm>
            <a:off x="947854" y="1494263"/>
            <a:ext cx="50557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FB_Velo_avg, careerWAR, and FIP are the only statistically significant results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Market size was both statistically and economically insignificant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FIP and WAR performed as expected</a:t>
            </a:r>
          </a:p>
        </p:txBody>
      </p:sp>
    </p:spTree>
    <p:extLst>
      <p:ext uri="{BB962C8B-B14F-4D97-AF65-F5344CB8AC3E}">
        <p14:creationId xmlns:p14="http://schemas.microsoft.com/office/powerpoint/2010/main" val="3836297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482C9-F0C9-C544-5964-96856E31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65BC3-E634-E137-1D4A-5C623C261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16491" cy="4351338"/>
          </a:xfrm>
        </p:spPr>
        <p:txBody>
          <a:bodyPr/>
          <a:lstStyle/>
          <a:p>
            <a:r>
              <a:rPr lang="en-US" dirty="0"/>
              <a:t>A 1 mph increase in average fastball velocity is associated with a 14% increase in AAV, for right-handed relief pitchers</a:t>
            </a:r>
          </a:p>
          <a:p>
            <a:r>
              <a:rPr lang="en-US" dirty="0"/>
              <a:t>Left-handed relievers may gain an additional 4.4% in AAV per 1 mph</a:t>
            </a:r>
          </a:p>
          <a:p>
            <a:r>
              <a:rPr lang="en-US" dirty="0"/>
              <a:t>Starting pitchers may gain an additional 2.2% in AAV per 1 mph</a:t>
            </a:r>
          </a:p>
          <a:p>
            <a:r>
              <a:rPr lang="en-US" dirty="0"/>
              <a:t>Left-handed starters may actually see slightly less than a 14% increase in AAV per 1 mph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253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5FF14-E0F2-4ECE-51B6-8C584DEB0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9766D-FA9A-2453-5191-E46B86F95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Additional data needed, 171 observations is a small sample</a:t>
            </a:r>
          </a:p>
          <a:p>
            <a:r>
              <a:rPr lang="en-US" dirty="0"/>
              <a:t>Unobservable factors like injury history, command, pitch movement, or a unique delivery</a:t>
            </a:r>
          </a:p>
          <a:p>
            <a:r>
              <a:rPr lang="en-US" dirty="0"/>
              <a:t>Additional years of data could be used to measure velocity trends and the relationship between velocity and AAV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603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</TotalTime>
  <Words>597</Words>
  <Application>Microsoft Macintosh PowerPoint</Application>
  <PresentationFormat>Widescreen</PresentationFormat>
  <Paragraphs>104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The Effect of Fastball Velocity on Pitcher AAV</vt:lpstr>
      <vt:lpstr>Introduction</vt:lpstr>
      <vt:lpstr>PowerPoint Presentation</vt:lpstr>
      <vt:lpstr>Data</vt:lpstr>
      <vt:lpstr>Model</vt:lpstr>
      <vt:lpstr>Results</vt:lpstr>
      <vt:lpstr>Conclusions</vt:lpstr>
      <vt:lpstr>Limitations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Whaley, Christopher J</dc:creator>
  <cp:lastModifiedBy>Whaley, Christopher J</cp:lastModifiedBy>
  <cp:revision>1</cp:revision>
  <dcterms:created xsi:type="dcterms:W3CDTF">2025-05-05T03:24:44Z</dcterms:created>
  <dcterms:modified xsi:type="dcterms:W3CDTF">2025-05-05T14:43:58Z</dcterms:modified>
</cp:coreProperties>
</file>